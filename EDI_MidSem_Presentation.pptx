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83" r:id="rId3"/>
    <p:sldId id="284" r:id="rId4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</p:sldIdLst>
  <p:sldSz cx="18288000" cy="10287000"/>
  <p:notesSz cx="6858000" cy="9144000"/>
  <p:embeddedFontLst>
    <p:embeddedFont>
      <p:font typeface="Canva Sans Bold" panose="020B0604020202020204" charset="0"/>
      <p:regular r:id="rId5"/>
    </p:embeddedFont>
    <p:embeddedFont>
      <p:font typeface="Aileron" panose="020B0604020202020204" charset="0"/>
      <p:regular r:id="rId6"/>
    </p:embeddedFont>
    <p:embeddedFont>
      <p:font typeface="Open Sauce" panose="020B0604020202020204" charset="0"/>
      <p:regular r:id="rId7"/>
    </p:embeddedFont>
    <p:embeddedFont>
      <p:font typeface="Lato" panose="020B0604020202020204" charset="0"/>
      <p:regular r:id="rId8"/>
      <p:bold r:id="rId9"/>
      <p:italic r:id="rId10"/>
      <p:boldItalic r:id="rId11"/>
    </p:embeddedFont>
    <p:embeddedFont>
      <p:font typeface="Lato Bold" panose="020B0604020202020204" charset="0"/>
      <p:regular r:id="rId12"/>
    </p:embeddedFont>
    <p:embeddedFont>
      <p:font typeface="Open Sans Extra Bold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Akzidenz-Grotesk Heavy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30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97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font" Target="fonts/font9.fntdata"/><Relationship Id="rId14" Type="http://schemas.openxmlformats.org/officeDocument/2006/relationships/font" Target="fonts/font10.fntdata"/><Relationship Id="rId15" Type="http://schemas.openxmlformats.org/officeDocument/2006/relationships/font" Target="fonts/font11.fntdata"/><Relationship Id="rId16" Type="http://schemas.openxmlformats.org/officeDocument/2006/relationships/font" Target="fonts/font12.fntdata"/><Relationship Id="rId17" Type="http://schemas.openxmlformats.org/officeDocument/2006/relationships/font" Target="fonts/font13.fntdata"/><Relationship Id="rId18" Type="http://schemas.openxmlformats.org/officeDocument/2006/relationships/font" Target="fonts/font14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17763" y="260224"/>
            <a:ext cx="722102" cy="10026776"/>
            <a:chOff x="0" y="0"/>
            <a:chExt cx="248964" cy="1869420"/>
          </a:xfrm>
          <a:solidFill>
            <a:schemeClr val="accent5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48964" cy="1869420"/>
            </a:xfrm>
            <a:custGeom>
              <a:avLst/>
              <a:gdLst/>
              <a:ahLst/>
              <a:cxnLst/>
              <a:rect l="l" t="t" r="r" b="b"/>
              <a:pathLst>
                <a:path w="248964" h="1869420">
                  <a:moveTo>
                    <a:pt x="0" y="0"/>
                  </a:moveTo>
                  <a:lnTo>
                    <a:pt x="248964" y="0"/>
                  </a:lnTo>
                  <a:lnTo>
                    <a:pt x="248964" y="1869420"/>
                  </a:lnTo>
                  <a:lnTo>
                    <a:pt x="0" y="1869420"/>
                  </a:lnTo>
                  <a:close/>
                </a:path>
              </a:pathLst>
            </a:custGeom>
            <a:grpFill/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48964" cy="192657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103481" y="-437854"/>
            <a:ext cx="2477360" cy="2725964"/>
          </a:xfrm>
          <a:custGeom>
            <a:avLst/>
            <a:gdLst/>
            <a:ahLst/>
            <a:cxnLst/>
            <a:rect l="l" t="t" r="r" b="b"/>
            <a:pathLst>
              <a:path w="2477360" h="2725964">
                <a:moveTo>
                  <a:pt x="0" y="0"/>
                </a:moveTo>
                <a:lnTo>
                  <a:pt x="2477360" y="0"/>
                </a:lnTo>
                <a:lnTo>
                  <a:pt x="2477360" y="2725965"/>
                </a:lnTo>
                <a:lnTo>
                  <a:pt x="0" y="2725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805" r="-231773" b="-25876"/>
            </a:stretch>
          </a:blipFill>
        </p:spPr>
        <p:txBody>
          <a:bodyPr/>
          <a:p/>
        </p:txBody>
      </p:sp>
      <p:sp>
        <p:nvSpPr>
          <p:cNvPr id="17" name="TextBox 17"/>
          <p:cNvSpPr txBox="1"/>
          <p:nvPr/>
        </p:nvSpPr>
        <p:spPr>
          <a:xfrm>
            <a:off x="1547646" y="239709"/>
            <a:ext cx="16033195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1" dirty="0" smtClean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MID  </a:t>
            </a:r>
            <a:r>
              <a:rPr lang="en-US" sz="2700" b="1" dirty="0" smtClean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7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SEMESTER </a:t>
            </a:r>
            <a:r>
              <a:rPr lang="en-US" sz="2700" b="1" dirty="0" smtClean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ASSESMENT </a:t>
            </a:r>
            <a:r>
              <a:rPr lang="en-US" sz="2700" b="1" dirty="0" smtClean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SEM-1-  2026-27</a:t>
            </a:r>
            <a:endParaRPr lang="en-US" sz="27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753840" y="1275561"/>
            <a:ext cx="11581157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 dirty="0" smtClean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EDI Project Title :- AI Digital Twin &amp; Chaos Engine for the Spanish Electricity Grid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85063" y="3510877"/>
            <a:ext cx="2904768" cy="52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DIV :- CSE(AI)-B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116836" y="3510877"/>
            <a:ext cx="3027164" cy="491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EDAI_GROUP:- </a:t>
            </a:r>
            <a:endParaRPr lang="en-US" sz="32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431903" y="3510877"/>
            <a:ext cx="2661166" cy="491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Day - Wednesday</a:t>
            </a:r>
            <a:endParaRPr lang="en-US" sz="32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3836019" y="3510877"/>
            <a:ext cx="3483293" cy="491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Date - 24/09/2026</a:t>
            </a:r>
            <a:endParaRPr lang="en-US" sz="32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833533" y="4863783"/>
            <a:ext cx="2756297" cy="52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Presented by :-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406820" y="4863783"/>
            <a:ext cx="2847380" cy="52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Project Guide :-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21850" y="6560198"/>
            <a:ext cx="16972012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  <a:spcBef>
                <a:spcPct val="0"/>
              </a:spcBef>
            </a:pPr>
            <a:r>
              <a:rPr lang="en-US" sz="3366" b="1" dirty="0">
                <a:solidFill>
                  <a:srgbClr val="000000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DEPARTMENT OF COMPUTER </a:t>
            </a:r>
            <a:r>
              <a:rPr lang="en-US" sz="3366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SCIENCE </a:t>
            </a:r>
            <a:r>
              <a:rPr lang="en-US" sz="3366" b="1" dirty="0">
                <a:solidFill>
                  <a:srgbClr val="000000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ENGINEERING (ARTIFICIAL INTELLIGENCE </a:t>
            </a:r>
            <a:r>
              <a:rPr lang="en-US" sz="3366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331829" y="7960717"/>
            <a:ext cx="11107370" cy="11375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5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VISHWAKARMA INSTITUTE OF </a:t>
            </a:r>
            <a:r>
              <a:rPr lang="en-US" sz="35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TECHNOLOGY,PUNE</a:t>
            </a:r>
            <a:endParaRPr lang="en-US" sz="3500" b="1" dirty="0">
              <a:solidFill>
                <a:srgbClr val="000000"/>
              </a:solidFill>
              <a:latin typeface="Times New Roman" panose="02020603050405020304" pitchFamily="18" charset="0"/>
              <a:ea typeface="Lato Bold"/>
              <a:cs typeface="Times New Roman" panose="02020603050405020304" pitchFamily="18" charset="0"/>
              <a:sym typeface="Lato Bold"/>
            </a:endParaRPr>
          </a:p>
        </p:txBody>
      </p:sp>
      <p:sp>
        <p:nvSpPr>
          <p:cNvPr id="28" name="AutoShape 10"/>
          <p:cNvSpPr/>
          <p:nvPr/>
        </p:nvSpPr>
        <p:spPr>
          <a:xfrm flipV="1">
            <a:off x="839865" y="9835406"/>
            <a:ext cx="15414335" cy="0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9" name="Freeform 18"/>
          <p:cNvSpPr/>
          <p:nvPr/>
        </p:nvSpPr>
        <p:spPr>
          <a:xfrm>
            <a:off x="16376664" y="9462451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09"/>
                </a:lnTo>
                <a:lnTo>
                  <a:pt x="0" y="7459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/>
          <a:p/>
        </p:txBody>
      </p:sp>
      <p:sp>
        <p:nvSpPr>
          <p:cNvPr id="30" name="AutoShape 11"/>
          <p:cNvSpPr/>
          <p:nvPr/>
        </p:nvSpPr>
        <p:spPr>
          <a:xfrm flipH="1">
            <a:off x="17295866" y="2965673"/>
            <a:ext cx="23446" cy="6330281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1" name="AutoShape 16"/>
          <p:cNvSpPr/>
          <p:nvPr/>
        </p:nvSpPr>
        <p:spPr>
          <a:xfrm>
            <a:off x="1547646" y="727022"/>
            <a:ext cx="903745" cy="0"/>
          </a:xfrm>
          <a:prstGeom prst="line">
            <a:avLst/>
          </a:prstGeom>
          <a:ln w="238125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028700" cy="10287000"/>
            <a:chOff x="0" y="0"/>
            <a:chExt cx="270933" cy="466552"/>
          </a:xfrm>
          <a:solidFill>
            <a:schemeClr val="accent5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grpFill/>
          </p:spPr>
        </p:sp>
        <p:sp>
          <p:nvSpPr>
            <p:cNvPr id="5" name="TextBox 5"/>
            <p:cNvSpPr txBox="1"/>
            <p:nvPr/>
          </p:nvSpPr>
          <p:spPr>
            <a:xfrm>
              <a:off x="60207" y="54727"/>
              <a:ext cx="210726" cy="4118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23107" y="2850095"/>
            <a:ext cx="12408632" cy="105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6"/>
              </a:lnSpc>
            </a:pPr>
            <a:endParaRPr dirty="0"/>
          </a:p>
          <a:p>
            <a:pPr algn="just">
              <a:lnSpc>
                <a:spcPts val="4326"/>
              </a:lnSpc>
            </a:pPr>
            <a:endParaRPr lang="en-US" sz="2884" spc="187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  <a:solidFill>
            <a:schemeClr val="accent5"/>
          </a:solidFill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1723107" y="900442"/>
            <a:ext cx="9354483" cy="1194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248"/>
              </a:lnSpc>
              <a:spcBef>
                <a:spcPct val="0"/>
              </a:spcBef>
            </a:pPr>
            <a:r>
              <a:rPr lang="en-US" sz="6000" dirty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Overview</a:t>
            </a:r>
          </a:p>
        </p:txBody>
      </p:sp>
      <p:sp>
        <p:nvSpPr>
          <p:cNvPr id="18" name="Freeform 18"/>
          <p:cNvSpPr/>
          <p:nvPr/>
        </p:nvSpPr>
        <p:spPr>
          <a:xfrm>
            <a:off x="16778563" y="867343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09"/>
                </a:lnTo>
                <a:lnTo>
                  <a:pt x="0" y="7459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accent5"/>
            </a:solidFill>
          </a:ln>
        </p:spPr>
      </p:sp>
      <p:sp>
        <p:nvSpPr>
          <p:cNvPr id="12" name="Rectangle 11"/>
          <p:cNvSpPr/>
          <p:nvPr/>
        </p:nvSpPr>
        <p:spPr>
          <a:xfrm>
            <a:off x="4572000" y="2211928"/>
            <a:ext cx="9144000" cy="52860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690889" lvl="1" indent="-345444">
              <a:lnSpc>
                <a:spcPts val="4480"/>
              </a:lnSpc>
              <a:buFont typeface="Arial"/>
              <a:buChar char="•"/>
            </a:pPr>
            <a:r>
              <a:rPr lang="en-US" sz="3200" b="1" dirty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Introduction</a:t>
            </a:r>
          </a:p>
          <a:p>
            <a:pPr marL="690889" lvl="1" indent="-345444">
              <a:lnSpc>
                <a:spcPts val="4480"/>
              </a:lnSpc>
              <a:buFont typeface="Arial"/>
              <a:buChar char="•"/>
            </a:pPr>
            <a:r>
              <a:rPr lang="en-US" sz="3200" b="1" dirty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</a:t>
            </a:r>
            <a:r>
              <a:rPr lang="en-US" sz="3200" b="1" dirty="0" smtClean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otivation</a:t>
            </a:r>
            <a:endParaRPr lang="en-US" sz="3200" b="1" dirty="0">
              <a:solidFill>
                <a:srgbClr val="051D4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  <a:p>
            <a:pPr marL="690889" lvl="1" indent="-345444">
              <a:lnSpc>
                <a:spcPts val="4480"/>
              </a:lnSpc>
              <a:buFont typeface="Arial"/>
              <a:buChar char="•"/>
            </a:pPr>
            <a:r>
              <a:rPr lang="en-US" sz="3200" b="1" dirty="0" smtClean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Literature Survey</a:t>
            </a:r>
            <a:endParaRPr lang="en-US" sz="3200" b="1" dirty="0">
              <a:solidFill>
                <a:srgbClr val="051D4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  <a:p>
            <a:pPr marL="690889" lvl="1" indent="-345444">
              <a:lnSpc>
                <a:spcPts val="4480"/>
              </a:lnSpc>
              <a:buFont typeface="Arial"/>
              <a:buChar char="•"/>
            </a:pPr>
            <a:r>
              <a:rPr lang="en-US" sz="3200" b="1" dirty="0" smtClean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Research Gap</a:t>
            </a:r>
            <a:endParaRPr lang="en-US" sz="3200" b="1" dirty="0">
              <a:solidFill>
                <a:srgbClr val="051D4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  <a:p>
            <a:pPr marL="690889" lvl="1" indent="-345444">
              <a:lnSpc>
                <a:spcPts val="4480"/>
              </a:lnSpc>
              <a:buFont typeface="Arial"/>
              <a:buChar char="•"/>
            </a:pPr>
            <a:r>
              <a:rPr lang="en-US" sz="3200" b="1" dirty="0" smtClean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Objective </a:t>
            </a:r>
            <a:endParaRPr lang="en-US" sz="3200" b="1" dirty="0">
              <a:solidFill>
                <a:srgbClr val="051D4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  <a:p>
            <a:pPr marL="690889" lvl="1" indent="-345444">
              <a:lnSpc>
                <a:spcPts val="4480"/>
              </a:lnSpc>
              <a:buFont typeface="Arial"/>
              <a:buChar char="•"/>
            </a:pPr>
            <a:r>
              <a:rPr lang="en-US" sz="3200" b="1" dirty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Design- System Architecture</a:t>
            </a:r>
          </a:p>
          <a:p>
            <a:pPr marL="690889" lvl="1" indent="-345444">
              <a:lnSpc>
                <a:spcPts val="4480"/>
              </a:lnSpc>
              <a:buFont typeface="Arial"/>
              <a:buChar char="•"/>
            </a:pPr>
            <a:r>
              <a:rPr lang="en-US" sz="3200" b="1" dirty="0" smtClean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Tech Stack</a:t>
            </a:r>
          </a:p>
          <a:p>
            <a:pPr marL="690889" lvl="1" indent="-345444">
              <a:lnSpc>
                <a:spcPts val="4480"/>
              </a:lnSpc>
              <a:buFont typeface="Arial"/>
              <a:buChar char="•"/>
            </a:pPr>
            <a:r>
              <a:rPr lang="en-US" sz="3200" b="1" dirty="0" smtClean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References</a:t>
            </a:r>
            <a:endParaRPr lang="en-US" sz="3200" b="1" dirty="0">
              <a:solidFill>
                <a:srgbClr val="051D4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  <a:p>
            <a:pPr marL="690889" lvl="1" indent="-345444">
              <a:lnSpc>
                <a:spcPts val="4480"/>
              </a:lnSpc>
              <a:buFont typeface="Arial"/>
              <a:buChar char="•"/>
            </a:pPr>
            <a:r>
              <a:rPr lang="en-US" sz="3200" b="1" dirty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Conclusion</a:t>
            </a:r>
          </a:p>
        </p:txBody>
      </p:sp>
      <p:sp>
        <p:nvSpPr>
          <p:cNvPr id="15" name="Freeform 10"/>
          <p:cNvSpPr/>
          <p:nvPr/>
        </p:nvSpPr>
        <p:spPr>
          <a:xfrm>
            <a:off x="14964051" y="1"/>
            <a:ext cx="2477360" cy="2095128"/>
          </a:xfrm>
          <a:custGeom>
            <a:avLst/>
            <a:gdLst/>
            <a:ahLst/>
            <a:cxnLst/>
            <a:rect l="l" t="t" r="r" b="b"/>
            <a:pathLst>
              <a:path w="2477360" h="2725964">
                <a:moveTo>
                  <a:pt x="0" y="0"/>
                </a:moveTo>
                <a:lnTo>
                  <a:pt x="2477360" y="0"/>
                </a:lnTo>
                <a:lnTo>
                  <a:pt x="2477360" y="2725965"/>
                </a:lnTo>
                <a:lnTo>
                  <a:pt x="0" y="2725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805" r="-231773" b="-25876"/>
            </a:stretch>
          </a:blipFill>
        </p:spPr>
      </p:sp>
    </p:spTree>
    <p:extLst>
      <p:ext uri="{BB962C8B-B14F-4D97-AF65-F5344CB8AC3E}">
        <p14:creationId xmlns:p14="http://schemas.microsoft.com/office/powerpoint/2010/main" val="2472234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723107" y="2850095"/>
            <a:ext cx="12408632" cy="105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6"/>
              </a:lnSpc>
            </a:pPr>
            <a:endParaRPr dirty="0"/>
          </a:p>
          <a:p>
            <a:pPr algn="just">
              <a:lnSpc>
                <a:spcPts val="4326"/>
              </a:lnSpc>
            </a:pPr>
            <a:endParaRPr lang="en-US" sz="2884" spc="187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04800" y="9944100"/>
            <a:ext cx="15392400" cy="76200"/>
          </a:xfrm>
          <a:prstGeom prst="line">
            <a:avLst/>
          </a:prstGeom>
          <a:ln w="38100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Freeform 10"/>
          <p:cNvSpPr/>
          <p:nvPr/>
        </p:nvSpPr>
        <p:spPr>
          <a:xfrm>
            <a:off x="14964051" y="1"/>
            <a:ext cx="2477360" cy="1333499"/>
          </a:xfrm>
          <a:custGeom>
            <a:avLst/>
            <a:gdLst/>
            <a:ahLst/>
            <a:cxnLst/>
            <a:rect l="l" t="t" r="r" b="b"/>
            <a:pathLst>
              <a:path w="2477360" h="2725964">
                <a:moveTo>
                  <a:pt x="0" y="0"/>
                </a:moveTo>
                <a:lnTo>
                  <a:pt x="2477360" y="0"/>
                </a:lnTo>
                <a:lnTo>
                  <a:pt x="2477360" y="2725965"/>
                </a:lnTo>
                <a:lnTo>
                  <a:pt x="0" y="2725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805" r="-231773" b="-25876"/>
            </a:stretch>
          </a:blipFill>
        </p:spPr>
      </p:sp>
      <p:grpSp>
        <p:nvGrpSpPr>
          <p:cNvPr id="20" name="Group 3"/>
          <p:cNvGrpSpPr/>
          <p:nvPr/>
        </p:nvGrpSpPr>
        <p:grpSpPr>
          <a:xfrm>
            <a:off x="0" y="769076"/>
            <a:ext cx="685802" cy="10287000"/>
            <a:chOff x="0" y="0"/>
            <a:chExt cx="270933" cy="466552"/>
          </a:xfrm>
          <a:solidFill>
            <a:schemeClr val="accent5"/>
          </a:solidFill>
        </p:grpSpPr>
        <p:sp>
          <p:nvSpPr>
            <p:cNvPr id="21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grpFill/>
          </p:spPr>
        </p:sp>
        <p:sp>
          <p:nvSpPr>
            <p:cNvPr id="22" name="TextBox 5"/>
            <p:cNvSpPr txBox="1"/>
            <p:nvPr/>
          </p:nvSpPr>
          <p:spPr>
            <a:xfrm>
              <a:off x="0" y="-57150"/>
              <a:ext cx="270933" cy="523702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Rectangle 1"/>
          <p:cNvSpPr/>
          <p:nvPr/>
        </p:nvSpPr>
        <p:spPr>
          <a:xfrm>
            <a:off x="5369695" y="0"/>
            <a:ext cx="5253362" cy="8769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lnSpc>
                <a:spcPts val="6730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Literature Survey</a:t>
            </a:r>
            <a:endParaRPr lang="en-US" sz="4800" b="1" dirty="0">
              <a:solidFill>
                <a:srgbClr val="0E2F5F"/>
              </a:solidFill>
              <a:latin typeface="Akzidenz-Grotesk Heavy"/>
              <a:ea typeface="Akzidenz-Grotesk Heavy"/>
              <a:cs typeface="Akzidenz-Grotesk Heavy"/>
              <a:sym typeface="Akzidenz-Grotesk Heavy"/>
            </a:endParaRPr>
          </a:p>
        </p:txBody>
      </p:sp>
      <p:graphicFrame>
        <p:nvGraphicFramePr>
          <p:cNvPr id="23" name="Content Placeholder 4">
            <a:extLst>
              <a:ext uri="{FF2B5EF4-FFF2-40B4-BE49-F238E27FC236}">
                <a16:creationId xmlns:a16="http://schemas.microsoft.com/office/drawing/2014/main" id="{7255246C-0B60-7E90-B4BC-E71B3A8BD3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1556775"/>
              </p:ext>
            </p:extLst>
          </p:nvPr>
        </p:nvGraphicFramePr>
        <p:xfrm>
          <a:off x="1028700" y="1771443"/>
          <a:ext cx="16412711" cy="7590669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130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6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3634">
                  <a:extLst>
                    <a:ext uri="{9D8B030D-6E8A-4147-A177-3AD203B41FA5}">
                      <a16:colId xmlns:a16="http://schemas.microsoft.com/office/drawing/2014/main" val="3670930075"/>
                    </a:ext>
                  </a:extLst>
                </a:gridCol>
                <a:gridCol w="2850360">
                  <a:extLst>
                    <a:ext uri="{9D8B030D-6E8A-4147-A177-3AD203B41FA5}">
                      <a16:colId xmlns:a16="http://schemas.microsoft.com/office/drawing/2014/main" val="1292415790"/>
                    </a:ext>
                  </a:extLst>
                </a:gridCol>
                <a:gridCol w="2945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2276">
                  <a:extLst>
                    <a:ext uri="{9D8B030D-6E8A-4147-A177-3AD203B41FA5}">
                      <a16:colId xmlns:a16="http://schemas.microsoft.com/office/drawing/2014/main" val="702408066"/>
                    </a:ext>
                  </a:extLst>
                </a:gridCol>
                <a:gridCol w="21039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937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 dirty="0" err="1">
                          <a:solidFill>
                            <a:srgbClr val="002060"/>
                          </a:solidFill>
                        </a:rPr>
                        <a:t>Sr.No</a:t>
                      </a:r>
                      <a:endParaRPr lang="en-IN" sz="2200" b="1" strike="noStrike" spc="-1" dirty="0">
                        <a:solidFill>
                          <a:srgbClr val="002060"/>
                        </a:solidFill>
                        <a:latin typeface="Aileron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 dirty="0">
                          <a:solidFill>
                            <a:srgbClr val="002060"/>
                          </a:solidFill>
                        </a:rPr>
                        <a:t>Author &amp; Year</a:t>
                      </a:r>
                      <a:endParaRPr lang="en-IN" sz="2200" b="1" strike="noStrike" spc="-1" dirty="0">
                        <a:solidFill>
                          <a:srgbClr val="002060"/>
                        </a:solidFill>
                        <a:latin typeface="Aileron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 dirty="0">
                          <a:solidFill>
                            <a:srgbClr val="002060"/>
                          </a:solidFill>
                        </a:rPr>
                        <a:t>Title of Paper</a:t>
                      </a:r>
                      <a:endParaRPr lang="en-IN" sz="2200" b="1" strike="noStrike" spc="-1" dirty="0">
                        <a:solidFill>
                          <a:srgbClr val="002060"/>
                        </a:solidFill>
                        <a:latin typeface="Aileron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 dirty="0">
                          <a:solidFill>
                            <a:srgbClr val="002060"/>
                          </a:solidFill>
                        </a:rPr>
                        <a:t>Publisher</a:t>
                      </a:r>
                      <a:endParaRPr lang="en-IN" sz="2200" b="1" strike="noStrike" spc="-1" dirty="0">
                        <a:solidFill>
                          <a:srgbClr val="002060"/>
                        </a:solidFill>
                        <a:latin typeface="Aileron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 dirty="0">
                          <a:solidFill>
                            <a:srgbClr val="002060"/>
                          </a:solidFill>
                        </a:rPr>
                        <a:t>Techniques used</a:t>
                      </a:r>
                      <a:endParaRPr lang="en-IN" sz="2200" b="1" strike="noStrike" spc="-1" dirty="0">
                        <a:solidFill>
                          <a:srgbClr val="002060"/>
                        </a:solidFill>
                        <a:latin typeface="Aileron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 dirty="0" smtClean="0">
                          <a:solidFill>
                            <a:srgbClr val="002060"/>
                          </a:solidFill>
                        </a:rPr>
                        <a:t>Findings</a:t>
                      </a:r>
                      <a:endParaRPr lang="en-IN" sz="2200" b="1" strike="noStrike" spc="-1" dirty="0">
                        <a:solidFill>
                          <a:srgbClr val="002060"/>
                        </a:solidFill>
                        <a:latin typeface="Aileron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 dirty="0">
                          <a:solidFill>
                            <a:srgbClr val="002060"/>
                          </a:solidFill>
                        </a:rPr>
                        <a:t>Research gap</a:t>
                      </a:r>
                      <a:endParaRPr lang="en-IN" sz="2200" b="1" strike="noStrike" spc="-1" dirty="0">
                        <a:solidFill>
                          <a:srgbClr val="002060"/>
                        </a:solidFill>
                        <a:latin typeface="Aileron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200" b="0" strike="noStrike" spc="-1" dirty="0">
                          <a:solidFill>
                            <a:srgbClr val="002060"/>
                          </a:solidFill>
                        </a:rPr>
                        <a:t/>
                      </a:r>
                      <a:r>
                        <a:rPr sz="1000">
                          <a:solidFill>
                            <a:srgbClr val="051D40"/>
                          </a:solidFill>
                          <a:latin typeface="Open Sans"/>
                        </a:rPr>
                        <a:t>1</a:t>
                      </a:r>
                      <a:endParaRPr lang="en-IN" sz="2200" b="0" strike="noStrike" spc="-1" dirty="0">
                        <a:solidFill>
                          <a:srgbClr val="002060"/>
                        </a:solidFill>
                        <a:latin typeface="Aileron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>
                          <a:solidFill>
                            <a:srgbClr val="051D40"/>
                          </a:solidFill>
                          <a:latin typeface="Open Sans"/>
                        </a:rPr>
                        <a:t>Wu et al., 2024</a:t>
                      </a:r>
                      <a:endParaRPr lang="en-IN" sz="2400" b="0" strike="noStrike" spc="-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>
                          <a:solidFill>
                            <a:srgbClr val="051D40"/>
                          </a:solidFill>
                          <a:latin typeface="Open Sans"/>
                        </a:rPr>
                        <a:t>A Survey on Graph Neural Networks for Power Grid Analysis</a:t>
                      </a:r>
                      <a:endParaRPr lang="en-IN" sz="2400" b="0" strike="noStrike" spc="-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>
                          <a:solidFill>
                            <a:srgbClr val="051D40"/>
                          </a:solidFill>
                          <a:latin typeface="Open Sans"/>
                        </a:rPr>
                        <a:t>IEEE Trans. on Power Systems</a:t>
                      </a:r>
                      <a:endParaRPr lang="en-IN" sz="2400" b="0" strike="noStrike" spc="-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>
                          <a:solidFill>
                            <a:srgbClr val="051D40"/>
                          </a:solidFill>
                          <a:latin typeface="Open Sans"/>
                        </a:rPr>
                        <a:t>GCN, GAT, GraphSAGE for power system state estimation, fault detection, and load forecasting</a:t>
                      </a:r>
                      <a:endParaRPr lang="en-IN" sz="2400" b="0" strike="noStrike" spc="-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>
                          <a:solidFill>
                            <a:srgbClr val="051D40"/>
                          </a:solidFill>
                          <a:latin typeface="Open Sans"/>
                        </a:rPr>
                        <a:t>GNNs exploit grid topology to improve forecasting accuracy by 12-18% over MLP baselines; GAT outperforms GCN on heterogeneous grids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>
                          <a:solidFill>
                            <a:srgbClr val="051D40"/>
                          </a:solidFill>
                          <a:latin typeface="Open Sans"/>
                        </a:rPr>
                        <a:t>Limited to static adjacency; no support for dynamic topology changes or cascading failure simulation</a:t>
                      </a:r>
                      <a:endParaRPr lang="en-IN" sz="2400" b="0" strike="noStrike" spc="-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16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200" b="0" strike="noStrike" spc="-1">
                          <a:solidFill>
                            <a:srgbClr val="002060"/>
                          </a:solidFill>
                        </a:rPr>
                        <a:t/>
                      </a:r>
                      <a:r>
                        <a:rPr sz="1000">
                          <a:solidFill>
                            <a:srgbClr val="051D40"/>
                          </a:solidFill>
                          <a:latin typeface="Open Sans"/>
                        </a:rPr>
                        <a:t>2</a:t>
                      </a:r>
                      <a:endParaRPr lang="en-IN" sz="2200" b="0" strike="noStrike" spc="-1">
                        <a:solidFill>
                          <a:srgbClr val="002060"/>
                        </a:solidFill>
                        <a:latin typeface="Aileron" panose="020B060402020202020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>
                          <a:solidFill>
                            <a:srgbClr val="051D40"/>
                          </a:solidFill>
                          <a:latin typeface="Open Sans"/>
                        </a:rPr>
                        <a:t>Owerko et al., 2023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>
                          <a:solidFill>
                            <a:srgbClr val="051D40"/>
                          </a:solidFill>
                          <a:latin typeface="Open Sans"/>
                        </a:rPr>
                        <a:t>Optimal Power Flow Using GNNs</a:t>
                      </a:r>
                      <a:endParaRPr lang="en-IN" sz="2400" b="0" strike="noStrike" spc="-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>
                          <a:solidFill>
                            <a:srgbClr val="051D40"/>
                          </a:solidFill>
                          <a:latin typeface="Open Sans"/>
                        </a:rPr>
                        <a:t>ICML Workshop on ML for Engineering</a:t>
                      </a:r>
                      <a:endParaRPr lang="en-IN" sz="2400" b="0" strike="noStrike" spc="-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>
                          <a:solidFill>
                            <a:srgbClr val="051D40"/>
                          </a:solidFill>
                          <a:latin typeface="Open Sans"/>
                        </a:rPr>
                        <a:t>Message-passing GNN trained as a surrogate for AC-OPF solvers on IEEE test cases</a:t>
                      </a:r>
                      <a:endParaRPr lang="en-IN" sz="2400" b="0" strike="noStrike" spc="-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>
                          <a:solidFill>
                            <a:srgbClr val="051D40"/>
                          </a:solidFill>
                          <a:latin typeface="Open Sans"/>
                        </a:rPr>
                        <a:t>GNN surrogate achieves 100× speedup over conventional DC-OPF solvers with &lt;2% optimality gap</a:t>
                      </a:r>
                      <a:endParaRPr lang="en-IN" sz="2400" b="0" strike="noStrike" spc="-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>
                          <a:solidFill>
                            <a:srgbClr val="051D40"/>
                          </a:solidFill>
                          <a:latin typeface="Open Sans"/>
                        </a:rPr>
                        <a:t>Tested only on IEEE synthetic benchmarks (14/118 bus); no real-world national grid data or weather features</a:t>
                      </a:r>
                      <a:endParaRPr lang="en-IN" sz="2400" b="0" strike="noStrike" spc="-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AutoShape 16"/>
          <p:cNvSpPr/>
          <p:nvPr/>
        </p:nvSpPr>
        <p:spPr>
          <a:xfrm>
            <a:off x="819362" y="571500"/>
            <a:ext cx="903745" cy="0"/>
          </a:xfrm>
          <a:prstGeom prst="line">
            <a:avLst/>
          </a:prstGeom>
          <a:ln w="238125" cap="flat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90363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23107" y="900442"/>
            <a:ext cx="9354483" cy="1194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E2F5F"/>
                </a:solidFill>
                <a:latin typeface="Open Sans Extra Bold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723107" y="2300000"/>
            <a:ext cx="903745" cy="38100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23107" y="2600000"/>
            <a:ext cx="14400000" cy="6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This project builds a research-grade, data-calibrated AI Digital Twin of the Spanish electricity system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Covers all 19 autonomous communities (incl. Balearic Islands, Canary Islands, Ceuta, Melilla)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Uses real hourly demand data from REE/e-sios API and weather data from Open-Meteo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Combines Graph Attention Networks (GAT) with LSTM for spatio-temporal demand forecasting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Includes a Chaos Engine for grid resilience testing — simulating plant failures, weather disasters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Full-stack application: FastAPI backend + React/DeckGL 3D frontend for real-time visualization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Integrates a Self-Healing Agent trained on 48,000+ grid failure scenarios for autonomous recovery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23107" y="900442"/>
            <a:ext cx="9354483" cy="1194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E2F5F"/>
                </a:solidFill>
                <a:latin typeface="Open Sans Extra Bold"/>
              </a:rPr>
              <a:t>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723107" y="2300000"/>
            <a:ext cx="903745" cy="38100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23107" y="2600000"/>
            <a:ext cx="14400000" cy="6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Spain is Europe's 4th-largest electricity market with rapidly growing renewable penetration (&gt;50% target by 2030)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Traditional grid management relies on expensive physics-based simulations that take minutes to run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No publicly available AI-driven Digital Twin exists for the Spanish national grid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Increasing frequency of extreme weather events (heat waves, storms) threatens grid stability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Need for real-time demand forecasting that captures spatial dependencies between adjacent regions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Renewable intermittency (solar, wind) demands rapid contingency analysis — GNN surrogates can provide instant predictions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Chaos Engineering principles (from Netflix/AWS) have never been applied systematically to power grid resilience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Research opportunity: bridge the gap between GNN research on synthetic IEEE benchmarks and real-world national grid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23107" y="900442"/>
            <a:ext cx="9354483" cy="1194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E2F5F"/>
                </a:solidFill>
                <a:latin typeface="Open Sans Extra Bold"/>
              </a:rPr>
              <a:t>Research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1723107" y="2300000"/>
            <a:ext cx="903745" cy="38100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23107" y="2600000"/>
            <a:ext cx="14400000" cy="6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Existing GNN power grid studies use only synthetic IEEE test cases (14-bus, 118-bus) — not real national grids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No prior work combines spatio-temporal GNN forecasting with a Chaos Engineering simulation framework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Current digital twins in energy are physics-only — no ML/DL hybrid correction for anomalous days (holidays, weekends)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Limited research on self-healing autonomous agents trained on large-scale synthetic failure datasets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Gap in real-time 3D visualization of grid topology changes during cascading failures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No existing system integrates demand forecasting + failure simulation + autonomous healing in a single platform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Weather-driven disaster scenarios (floods, heat waves) lack calibrated simulation with real historical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23107" y="900442"/>
            <a:ext cx="9354483" cy="1194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E2F5F"/>
                </a:solidFill>
                <a:latin typeface="Open Sans Extra Bold"/>
              </a:rP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723107" y="2300000"/>
            <a:ext cx="903745" cy="38100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23107" y="2600000"/>
            <a:ext cx="14400000" cy="6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Build an accurate 24-hour demand forecasting model using Graph Attention Networks (GAT + LSTM)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Achieve &lt; 0.20 RMSE on validation set (baseline persistence RMSE: 0.2618) — achieved 0.1926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Construct a Digital Twin graph of Spain's grid: 140+ generation nodes, 19 demand regions, dynamic edges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Implement a Chaos Engine supporting 4 failure modes: Plant OFF, Weather Disaster, Random Walk, Adaptive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Train a GNN Surrogate on 48,000+ synthetic contingency scenarios for instant stability prediction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Build a Self-Healing Agent using Gradient Boosted Trees for autonomous grid recovery recommendations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Deliver an interactive 3D frontend (React + DeckGL) with real-time topology and forecast visualization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Validate with real data from REE/e-sios and ENTSO-E APIs (2020-2027 hourly resolution)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23107" y="900442"/>
            <a:ext cx="9354483" cy="1194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E2F5F"/>
                </a:solidFill>
                <a:latin typeface="Open Sans Extra Bold"/>
              </a:rPr>
              <a:t>Design —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723107" y="2300000"/>
            <a:ext cx="903745" cy="38100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23107" y="2600000"/>
            <a:ext cx="14400000" cy="6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STAGE 1 — Data Pipeline: REE/e-sios API → hourly demand; Open-Meteo → weather; ENTSO-E → generation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STAGE 2 — Feature Engineering: 17-channel input tensor (demand, temperature, humidity, wind, solar, price, population density, industry index, sin/cos time encodings, holiday flag, weekend flag)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STAGE 3 — Spatio-Temporal GNN: 2-layer GATConv (4 heads) → BatchNorm → LSTM (2 layers) → FC predictor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STAGE 4 — Regional Model: GATForecaster trained with AdaptiveGridLoss (3× under-prediction penalty, 5× holiday boost)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STAGE 5 — Digital Twin: Graph with 140+ power plant nodes + 19 region nodes; greedy routing via Haversine distance; real-time redispatch on failure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STAGE 6 — Chaos Engine: Failure injection → SnapshotBuilder captures grid state → ScenarioEngine runs simulations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STAGE 7 — Self-Healing Agent: Trained on chaos dataset; predicts optimal recovery actions (redispatch, load shed, reserve activate)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STAGE 8 — 3D Frontend: React + DeckGL (GeoJsonLayer, ArcLayer, SimpleMeshLayer) + FastAPI REST backend on port 8000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23107" y="900442"/>
            <a:ext cx="9354483" cy="1194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E2F5F"/>
                </a:solidFill>
                <a:latin typeface="Open Sans Extra Bold"/>
              </a:rPr>
              <a:t>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1723107" y="2300000"/>
            <a:ext cx="903745" cy="38100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23107" y="2600000"/>
            <a:ext cx="14400000" cy="6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Deep Learning: PyTorch + PyTorch Geometric (GATConv, LSTM, BatchNorm, Dropout)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Machine Learning: scikit-learn (HistGradientBoostingRegressor for HybridCorrector and HealingAgent)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Data Processing: Pandas, NumPy, SciPy; NodeAwareScaler for per-region normalization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APIs: REE e-sios (demand data), ENTSO-E Transparency Platform (generation), Open-Meteo (weather)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Backend: FastAPI (Python) — REST API serving topology, forecasts, chaos simulations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Frontend: React 18 + Vite, DeckGL (3D map layers), Framer Motion (animations), Recharts (charts)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Digital Twin: Custom graph builder, Haversine-based routing, Redispatch Engine, SnapshotBuilder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Training: AdaptiveGridLoss, CosineAnnealingWarmRestarts, WeightedRandomSampler (5× holiday oversampling)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Infrastructure: Python 3.11, Node.js 18+, Git version control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23107" y="900442"/>
            <a:ext cx="9354483" cy="1194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E2F5F"/>
                </a:solidFill>
                <a:latin typeface="Open Sans Extra Bold"/>
              </a:rPr>
              <a:t>Results &amp; Key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1723107" y="2300000"/>
            <a:ext cx="903745" cy="38100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23107" y="2600000"/>
            <a:ext cx="14400000" cy="6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GATForecaster Best Validation Loss: 0.0598 at Epoch 83 (100 epochs total)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Best Validation RMSE: 0.1926 — 26.4% improvement over Persistence Baseline (0.2618)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Model Parameters: ~850K trainable parameters across GAT + LSTM layers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Training: CosineAnnealingWarmRestarts with 5-epoch linear warmup; 3 warm restart cycles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Regional model trained with 17 input channels; outputs (Nodes, PredHorizon=24, 2) for demand + excess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Chaos Engine: 48,000+ synthetic failure scenarios generated for self-healing agent training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Self-Healing Agent: Gradient Boosted Tree classifier for recovery action prediction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Digital Twin: 140+ power plants, 19 regions, real-time greedy routing with Haversine distance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End-to-end inference latency: &lt; 200ms for full 24-hour forecast across all 19 regions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23107" y="900442"/>
            <a:ext cx="9354483" cy="1194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E2F5F"/>
                </a:solidFill>
                <a:latin typeface="Open Sans Extra Bold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723107" y="2300000"/>
            <a:ext cx="903745" cy="38100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23107" y="2600000"/>
            <a:ext cx="14400000" cy="6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[1] Wu et al., "A Survey on Graph Neural Networks for Power Grid Analysis," IEEE Trans. Power Systems, 2024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[2] Owerko et al., "Optimal Power Flow Using Graph Neural Networks," ICML Workshop, 2023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[3] Veličković et al., "Graph Attention Networks," ICLR 2018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[4] Kipf &amp; Welling, "Semi-Supervised Classification with Graph Convolutional Networks," ICLR 2017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[5] REE (Red Eléctrica de España), "e-sios API Documentation," https://www.esios.ree.es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[6] ENTSO-E Transparency Platform, "Actual Generation per Production Type," https://transparency.entsoe.eu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[7] Open-Meteo Historical Weather API, https://open-meteo.com/en/docs/historical-weather-api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[8] Basmadjian &amp; de Meer, "Using GNNs for Electricity Demand Forecasting," IEEE Access, 2022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[9] Casey Rosenthal &amp; Nora Jones, "Chaos Engineering: System Resiliency in Practice," O'Reilly, 2020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23107" y="900442"/>
            <a:ext cx="9354483" cy="1194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E2F5F"/>
                </a:solidFill>
                <a:latin typeface="Open Sans Extra Bold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723107" y="2300000"/>
            <a:ext cx="903745" cy="38100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23107" y="2600000"/>
            <a:ext cx="14400000" cy="6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Successfully built an AI-powered Digital Twin of the Spanish electricity grid — a first-of-its-kind system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GATForecaster achieves 0.1926 RMSE — 26.4% better than the persistence baseline on real REE/ENTSO-E data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17-channel spatio-temporal architecture captures demand, weather, price, calendar, and geographic features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Chaos Engine enables systematic resilience testing with plant failures, weather disasters, and cascading scenarios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Self-Healing Agent autonomously recommends recovery actions trained on 48,000+ synthetic failure scenarios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Interactive 3D frontend provides real-time visualization of grid topology, forecasts, and failure simulations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Bridges the gap between academic GNN research (synthetic benchmarks) and real-world grid operations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51D40"/>
                </a:solidFill>
                <a:latin typeface="Open Sans"/>
              </a:rPr>
              <a:t>▸ Future Work: integrate real-time streaming data, expand to pan-European grid, add reinforcement learning for healing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71</Words>
  <Application>Microsoft Office PowerPoint</Application>
  <PresentationFormat>Custom</PresentationFormat>
  <Paragraphs>30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4" baseType="lpstr">
      <vt:lpstr>Canva Sans Bold</vt:lpstr>
      <vt:lpstr>Aileron</vt:lpstr>
      <vt:lpstr>Open Sauce</vt:lpstr>
      <vt:lpstr>Times New Roman</vt:lpstr>
      <vt:lpstr>Lato</vt:lpstr>
      <vt:lpstr>Lato Bold</vt:lpstr>
      <vt:lpstr>Open Sans Extra Bold</vt:lpstr>
      <vt:lpstr>Calibri</vt:lpstr>
      <vt:lpstr>Arial</vt:lpstr>
      <vt:lpstr>Akzidenz-Grotesk Heavy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</dc:title>
  <dc:creator>Admin</dc:creator>
  <cp:lastModifiedBy>Admin</cp:lastModifiedBy>
  <cp:revision>25</cp:revision>
  <dcterms:created xsi:type="dcterms:W3CDTF">2006-08-16T00:00:00Z</dcterms:created>
  <dcterms:modified xsi:type="dcterms:W3CDTF">2026-09-09T03:59:39Z</dcterms:modified>
  <dc:identifier>DAGOaE9SXNE</dc:identifier>
</cp:coreProperties>
</file>